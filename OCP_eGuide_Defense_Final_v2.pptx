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OCP eGuide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80C0A0"/>
                </a:solidFill>
                <a:latin typeface="Calibri"/>
              </a:defRPr>
            </a:pPr>
            <a:r>
              <a:t>Système Numérique Interactif d'Orientation du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A0B0C0"/>
                </a:solidFill>
                <a:latin typeface="Calibri"/>
              </a:defRPr>
            </a:pPr>
            <a:r>
              <a:t>Rapport de Stage — Projet de Fin d'Études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1600"/>
              </a:spcBef>
              <a:spcAft>
                <a:spcPts val="400"/>
              </a:spcAft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Étudiant :  Imrane Belkoufa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Institution :  EST Sidi Bennour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Filière :  Génie Informatique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Organisme :  OCP S.A. — Complexe Jorf Lasfar, El Jadida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Encadrant :  M. Karim Alaoui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Année universitaire :  2025 –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0116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Contexte du stage et problématique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6060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Solution proposée : OCP eGuide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20040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Architecture et stack 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79476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404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Carte interactive et calibration GPS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38912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Pathfinding A* et routage piéton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9834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029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Backend, API et sécurité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55778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23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Interface utilisateur et dashboards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0116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Processus de développement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060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51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Tests et validation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0040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46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Déploiement et production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79476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8404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Résultats et métriques clés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38912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Défis techniques et solutions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9834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029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Limites et perspectives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55778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623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Contexte : OCP S.A. et Complexe Jorf Lasfar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A1628"/>
                </a:solidFill>
                <a:latin typeface="Calibri"/>
              </a:defRPr>
            </a:pPr>
            <a:r>
              <a:t>OCP S.A.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Leader mondial dans l'exploitation et la transformation des phosphates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Groupe industriel marocain, présence dans 15+ pays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Fournit 40% de l'engrais mondial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Chiffre d'affaires : 13,3 milliards MAD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Plus de 21 000 collaborateurs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A1628"/>
                </a:solidFill>
                <a:latin typeface="Calibri"/>
              </a:defRPr>
            </a:pPr>
            <a:r>
              <a:t>Complexe Jorf Lasfar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Situé près d'El Jadida, côte atlantique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1 130 hectares de superficie totale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Plus de 90 localisations à orienter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19 catégories de profils utilisateurs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Environnement industriel complexe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Problématique : L'Orientation sur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00A050"/>
                </a:solidFill>
                <a:latin typeface="Calibri"/>
              </a:defRPr>
            </a:pPr>
            <a:r>
              <a:t>90+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localisations</a:t>
            </a:r>
            <a:br/>
            <a:r>
              <a:t>à orienter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2004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1E3A5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profils</a:t>
            </a:r>
            <a:br/>
            <a:r>
              <a:t>d'utilisateurs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9" y="2103120"/>
            <a:ext cx="32004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C0392B"/>
                </a:solidFill>
                <a:latin typeface="Calibri"/>
              </a:defRPr>
            </a:pPr>
            <a:r>
              <a:t>1 130 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de superficie</a:t>
            </a:r>
            <a:br/>
            <a:r>
              <a:t>industrielle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Plans imprimés obsolètes, GPS grand public imprécis en milieu industriel, absence de solution adaptée aux 90+ localisations du campus.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Solution : OCP eGuide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Application web complète : carte interactive, recherche floue, routage A*, dashboards, mode kiosk, trilingue.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Carte Interactive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Image satellite du campus</a:t>
            </a:r>
            <a:br/>
            <a:r>
              <a:t>avec zoom, pan, marqueurs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Recherche Floue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Recherche par nom, alias</a:t>
            </a:r>
            <a:br/>
            <a:r>
              <a:t>ou catégorie avec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9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Routage A*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Itinéraire piéton optimal</a:t>
            </a:r>
            <a:br/>
            <a:r>
              <a:t>avec temps de marche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19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Interfaces personnalisées</a:t>
            </a:r>
            <a:br/>
            <a:r>
              <a:t>par profil utilisateur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Trilingue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EN / FR / AR avec RTL</a:t>
            </a:r>
            <a:br/>
            <a:r>
              <a:t>430+ clés i18n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9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9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Sécurisé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JWT, Argon2, rate limiting</a:t>
            </a:r>
            <a:br/>
            <a:r>
              <a:t>CORS, Helmet.js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12801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Architecture du Système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73152" cy="9144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PRÉSENTATION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Next.js 16 + React 19 + TypeScript + Tailwind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3291840"/>
            <a:ext cx="731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3832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3A5F"/>
                </a:solidFill>
                <a:latin typeface="Calibri"/>
              </a:defRPr>
            </a:pPr>
            <a:r>
              <a:t>MÉTIER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4904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Express.js 4 + Socket.IO + JWT + Zod + Swagger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48056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480560"/>
            <a:ext cx="73152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572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8E44AD"/>
                </a:solidFill>
                <a:latin typeface="Calibri"/>
              </a:defRPr>
            </a:pPr>
            <a:r>
              <a:t>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PostgreSQL 16 + Prisma ORM + Argon2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017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206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4A4A4A"/>
                </a:solidFill>
                <a:latin typeface="Calibri"/>
              </a:defRPr>
            </a:pPr>
            <a:r>
              <a:t>Déploiement : Vercel (frontend)  •  Render (backend)  •  Supabase (PostgreSQL)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Stack Technologique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1371600"/>
                <a:gridCol w="5212080"/>
              </a:tblGrid>
              <a:tr h="33762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Couche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Technologie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Rôle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Next.js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16.3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Framework React App Router, SSR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Bibliothèque UI, 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5.x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Typage statique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Styling utility-first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Express.js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4.21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Framework HTTP, routing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Prisma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ORM 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16+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Base de données relationnelle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Socket.IO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Temps réel (WebSocket)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Argon2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Hachage mots de passe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Tokens d'authentification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Outil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Jest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29.7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Tests unitaires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Outil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Swagger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Documentation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Carte Interactive du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Pourquoi Canvas HTML5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Image satellite PNG comme surface de référence unique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Positionnement en pourcentages de l'image (PNG-local)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Alignement parfait des marqueurs à tout zoom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Pas de dépendance à Leaflet/Mapbox (coût, licence)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Rendu haute performance pour 95 localisations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Interactions Utilisateur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Zoom : molette, boutons, pincement (0.3x – 5.0x)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Pan : glisser-déposer, tactile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Recherche floue avec scoring multi-critères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Sélection : clic sur marqueur → détails +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Routage : sélection départ/arrivée → A* animé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Labels : évitement de collision, taille adaptive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8 / 22</a:t>
            </a:r>
          </a:p>
        </p:txBody>
      </p:sp>
      <p:pic>
        <p:nvPicPr>
          <p:cNvPr id="14" name="Picture 13" descr="ocp-campus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931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5989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Vue principale de la carte interactive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Calibration GPS → Pixels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8 bâtiments identifiés</a:t>
            </a:r>
            <a:br/>
            <a:r>
              <a:t>sur satellite + Google Earth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Calcul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Transformation affine</a:t>
            </a:r>
            <a:br/>
            <a:r>
              <a:t>6 coefficients (a,b,c,d,e,f)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Conversion des 95</a:t>
            </a:r>
            <a:br/>
            <a:r>
              <a:t>localisations GPS → pixels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1019556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RMS = 14,4 px</a:t>
            </a:r>
            <a:br/>
            <a:r>
              <a:t>95/95 in-bounds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754880"/>
            <a:ext cx="6675120" cy="1097280"/>
          </a:xfrm>
          <a:prstGeom prst="rect">
            <a:avLst/>
          </a:prstGeom>
          <a:solidFill>
            <a:srgbClr val="F0F8F0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4892040"/>
            <a:ext cx="6126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7030"/>
                </a:solidFill>
                <a:latin typeface="Calibri"/>
              </a:defRPr>
            </a:pPr>
            <a:r>
              <a:t>Résultat : RMS = 14,4 px (≈ 100 m à cette échelle)  •  95/95 localisations dans les limites  •  100% routable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9 / 22</a:t>
            </a:r>
          </a:p>
        </p:txBody>
      </p:sp>
      <p:pic>
        <p:nvPicPr>
          <p:cNvPr id="26" name="Picture 25" descr="calibration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474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0800" y="5577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Résultat de la calibration GPS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Pathfinding A* et Routage Piéton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Algorithme A*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f(n) = g(n) + h(n)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g(n) : coût réel du début au nœud 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h(n) : heuristique euclidienne (distance à vol d'oiseau)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File de priorité (binary heap) pour l'optimisation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Construction paresseuse de la matrice d'adjacence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Données Cartographiques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74320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3 423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7063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nœuds de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832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13 346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1071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arêtes (chemins piétons)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023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05079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localisations connectées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63439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90871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paires routables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035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&lt; 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3309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temps de calcul max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Backend, API et Base de Données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657600"/>
              </a:tblGrid>
              <a:tr h="31652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Routes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Fonctionnalités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/api/auth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register, login, refresh, logout, me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Authentification JWT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employees,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utilisateurs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/api/internships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progress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stages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assign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tâches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/api/requests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approve/reject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Demandes et validations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list, read, read-all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/api/locations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Localisations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/api/places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list, occupancy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Espaces 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generate, verify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Codes 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update,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Présence temps réel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/api/guest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request, status, 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Portail invité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/api/guest-public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search,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publique 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4A4A4A"/>
                </a:solidFill>
                <a:latin typeface="Calibri"/>
              </a:defRPr>
            </a:pPr>
            <a:r>
              <a:t>12 groupes de routes  •  Documentation Swagger auto-générée  •  16 modèles Prisma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Authentification 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Double token : access (15 min) + refresh (7 jours)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0312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Hachage Argon2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Algorithme de hachage sécurisé pour les mots de passe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Autorisation par rôle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Middleware authorize (ADMIN, EMPLOYEE, INTERN)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20040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100 requêtes / 15 min par 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Helmet.js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En-têtes de sécurité HTTP renforcés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29768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CORS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548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Liste blanche d'origines autorisées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94959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8639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Validation Zod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59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Validation stricte de toutes les entrées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394959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48639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Sanitisation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852159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Suppression du passwordHash dans les réponses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Interface Utilisateur et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Identité Visuelle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062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Couleurs : Vert OCP (#00A050) + Marine (#0A1628)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Mode kiosk : défilement automatique des profils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Page d'accueil : sélection de profil avec icônes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Responsive design : mobile, tablette, desktop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i18n : 3 langues (EN/FR/AR), 430+ clés, RTL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19 Dashboards Personnalisés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Employés : Management, Réception, RH, IT, Sécurité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Stagiaires : Mécanique, Chimie, Électrique, Civil...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Visiteurs : Client, Livreur, Partenaire, Fournisseur...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Chaque profil voit les données et actions pertinentes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Widget temps réel via Socket.IO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13 / 22</a:t>
            </a:r>
          </a:p>
        </p:txBody>
      </p:sp>
      <p:pic>
        <p:nvPicPr>
          <p:cNvPr id="14" name="Picture 13" descr="app-home-kio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265176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4206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Page d'accueil en mode kiosk</a:t>
            </a:r>
          </a:p>
        </p:txBody>
      </p:sp>
      <p:pic>
        <p:nvPicPr>
          <p:cNvPr id="16" name="Picture 15" descr="dashboard-re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011680"/>
            <a:ext cx="265176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0" y="4206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Tableau de bord personnalisé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Processus de Développement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Audit du site</a:t>
            </a:r>
            <a:br/>
            <a:r>
              <a:t>Cahier des charges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Conception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Architecture</a:t>
            </a:r>
            <a:br/>
            <a:r>
              <a:t>Schéma Prisma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API REST</a:t>
            </a:r>
            <a:br/>
            <a:r>
              <a:t>Auth + CRUD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Landing + Auth</a:t>
            </a:r>
            <a:br/>
            <a:r>
              <a:t>Dashboard layout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Carte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OCPMap Canvas</a:t>
            </a:r>
            <a:br/>
            <a:r>
              <a:t>Search + A*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3272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Jest API tests</a:t>
            </a:r>
            <a:br/>
            <a:r>
              <a:t>0 erreurs 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Scripts d'automatisation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dev-all.sh — Démarrage PostgreSQL + Backend + Frontend en une commande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regenerate-map.mjs — Pipeline de régénération carte après calibration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convert-coordinates.js — Convertisseur GPS DMS → pixels (affine)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Tests et Validation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3200400"/>
                <a:gridCol w="1828800"/>
              </a:tblGrid>
              <a:tr h="3740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Attendu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Observé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Inscription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 + tokens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 + accessToken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Connexion valide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user +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Connexion invalide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 Invalid credentials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Accès sans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 Missing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Refresh 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nouveau 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accessToken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Autorisation rôle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403 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Build 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Succès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 erreurs TypeScript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RMS &lt; 25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RMS = 14,4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Connectivité A*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8 930/8 930 (100%)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Recherche floue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Résultats triés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Top 10 résultats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25 tests Jest  •  0 erreurs TypeScript  •  Tous les tests passent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Déploiement et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54864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Frontend Next.js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Déploiement automatique</a:t>
            </a:r>
            <a:br/>
            <a:r>
              <a:t>Depuis GitHub</a:t>
            </a:r>
            <a:br/>
            <a:r>
              <a:t>SSL + CDN global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103120"/>
            <a:ext cx="3200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3A5F"/>
                </a:solidFill>
                <a:latin typeface="Calibri"/>
              </a:defRPr>
            </a:pPr>
            <a:r>
              <a:t>Backend Express.js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Build automatique</a:t>
            </a:r>
            <a:br/>
            <a:r>
              <a:t>Variables d'env</a:t>
            </a:r>
            <a:br/>
            <a:r>
              <a:t>Health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9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9" y="2103120"/>
            <a:ext cx="320040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8E44AD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Base de données</a:t>
            </a:r>
            <a:br/>
            <a:r>
              <a:t>Backups automatiques</a:t>
            </a:r>
            <a:br/>
            <a:r>
              <a:t>Panneau d'admin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4A4A4A"/>
                </a:solidFill>
                <a:latin typeface="Calibri"/>
              </a:defRPr>
            </a:pPr>
            <a:r>
              <a:t>Variables d'environnement : DATABASE_URL  •  JWT_SECRET  •  JWT_REFRESH_SECRET  •  CORS_ORIGIN  •  NODE_ENV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Résultats Clés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2860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00A050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Localisations</a:t>
            </a:r>
            <a:br/>
            <a:r>
              <a:t>calibrées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2286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E3A5F"/>
                </a:solidFill>
                <a:latin typeface="Calibri"/>
              </a:defRPr>
            </a:pPr>
            <a:r>
              <a:t>3 423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Nœuds de</a:t>
            </a:r>
            <a:br/>
            <a:r>
              <a:t>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9" y="2103120"/>
            <a:ext cx="22860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8E44AD"/>
                </a:solidFill>
                <a:latin typeface="Calibri"/>
              </a:defRPr>
            </a:pPr>
            <a:r>
              <a:t>13 346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Arêtes de</a:t>
            </a:r>
            <a:br/>
            <a:r>
              <a:t>graphe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C0392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Connectivité</a:t>
            </a:r>
            <a:br/>
            <a:r>
              <a:t>A*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206240"/>
            <a:ext cx="22860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00A050"/>
                </a:solidFill>
                <a:latin typeface="Calibri"/>
              </a:defRPr>
            </a:pPr>
            <a:r>
              <a:t>14,4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RMS de</a:t>
            </a:r>
            <a:br/>
            <a:r>
              <a:t>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9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9" y="4206240"/>
            <a:ext cx="2286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E3A5F"/>
                </a:solidFill>
                <a:latin typeface="Calibri"/>
              </a:defRPr>
            </a:pPr>
            <a:r>
              <a:t>&lt; 3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Temps de</a:t>
            </a:r>
            <a:br/>
            <a:r>
              <a:t>routage 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Résultats — Fonctionnalités Livrées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Frontend Next.js avec 19 dashboards responsive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Backend Express.js avec 12 groupes d'endpoints + Swagger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PostgreSQL avec 16 modèles Prisma et 76 comptes démo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Carte interactive avec 95 localisations calibrées par GPS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A* fonctionnel avec distance et temps de marche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Recherche floue avec scoring multi-critères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Interface trilingue (EN/FR/AR) avec 430+ clés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Auth JWT sécurisée (Argon2, refresh tokens, rate limiting)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Socket.IO temps réel + mode kiosk + QR codes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Pipeline calibration GPS semi-automatisé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0 erreurs TypeScript, tous les tests passent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Défis Techniques et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Calibration GPS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Premiers tests → positions erronées.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8 points de contrôle, transformation affine (6 coeff.).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RMS = 14,4 px, 95/95 in-bounds, 100% routable.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Alignement des marqueurs au zoom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Marqueurs décalés au zoom.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Principe PNG-local (positions en 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Alignement parfait sous toute condition de zoom.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Performance avec 3 400+ nœuds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3 400+ nœuds côté client.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Binary heap, construction paresseuse.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06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Rendu fluide, routage &lt; 3 secondes.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Limites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C0392B"/>
                </a:solidFill>
                <a:latin typeface="Calibri"/>
              </a:defRPr>
            </a:pPr>
            <a:r>
              <a:t>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Précision de calibration limitée (RMS 14,4 px ≈ 100 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Absence de navigation intérieure (étages, couloirs)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Carte satellite statique (régénération manuelle)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Absence de mode hors-ligne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Tests E2E et tests unitaires frontend à implémenter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OAuth Google préparé mais non activé en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15+ points de calibration (RMS &lt; 5 px)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Image haute résolution (4K)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Navigation intérieure (bâtiments, étages)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Application mobile (React Native)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Tests Cypress/Playwright (E2E)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Accessibilité WCAG 2.1 AA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Conclusion Générale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16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Un projet complet et fonctionnel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Application web fonctionnelle pour l'orientation sur le campus OCP Jorf Lasfar.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800" b="0" i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Compétences techniques acquises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Stack moderne : Next.js, Express, Prisma, PostgreSQL, A*, calibration géospatiale.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800" b="0" i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Impact professionnel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Passion confirmée pour le développement logiciel en contexte industriel.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80C0A0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Imrane Belkoufa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0B0C0"/>
                </a:solidFill>
                <a:latin typeface="Calibri"/>
              </a:defRPr>
            </a:pPr>
            <a:r>
              <a:t>EST Sidi Bennour — Génie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0B0C0"/>
                </a:solidFill>
                <a:latin typeface="Calibri"/>
              </a:defRPr>
            </a:pPr>
            <a:r>
              <a:t>OCP S.A. — Complexe Jorf Lasfar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8090A0"/>
                </a:solidFill>
                <a:latin typeface="Calibri"/>
              </a:defRPr>
            </a:pPr>
            <a:r>
              <a:t>Année universitaire 2025 –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