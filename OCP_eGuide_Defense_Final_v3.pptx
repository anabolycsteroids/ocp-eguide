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 i="0">
                <a:solidFill>
                  <a:srgbClr val="FFFFFF"/>
                </a:solidFill>
                <a:latin typeface="Calibri"/>
              </a:defRPr>
            </a:pPr>
            <a:r>
              <a:t>OCP eGuide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 i="0">
                <a:solidFill>
                  <a:srgbClr val="80C0A0"/>
                </a:solidFill>
                <a:latin typeface="Calibri"/>
              </a:defRPr>
            </a:pPr>
            <a:r>
              <a:t>Système Numérique Interactif d'Orientation du Campus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A0B0C0"/>
                </a:solidFill>
                <a:latin typeface="Calibri"/>
              </a:defRPr>
            </a:pPr>
            <a:r>
              <a:t>Rapport de Stage — Projet de Fin d'Études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05840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1600"/>
              </a:spcBef>
              <a:spcAft>
                <a:spcPts val="400"/>
              </a:spcAft>
              <a:defRPr sz="1600" b="1" i="0">
                <a:solidFill>
                  <a:srgbClr val="1A1A2E"/>
                </a:solidFill>
                <a:latin typeface="Calibri"/>
              </a:defRPr>
            </a:pPr>
            <a:r>
              <a:t>Étudiant :  Imrane Belkoufa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Institution :  EST Sidi Bennour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Filière :  Génie Informatique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Organisme :  OCP S.A. — Complexe Jorf Lasfar, El Jadida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Encadrant :  M. Karim Alaoui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Année universitaire :  2025 –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1 /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Plan de la Présentation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201168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0574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Contexte du stage et problématique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260604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65176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Solution proposée : OCP eGuide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320040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24612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Architecture et stack technique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379476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84048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Carte interactive et calibration GPS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438912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43484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Pathfinding A* et routage piéton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498348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0292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Backend, API et sécurité</a:t>
            </a:r>
          </a:p>
        </p:txBody>
      </p:sp>
      <p:sp>
        <p:nvSpPr>
          <p:cNvPr id="18" name="Oval 17"/>
          <p:cNvSpPr/>
          <p:nvPr/>
        </p:nvSpPr>
        <p:spPr>
          <a:xfrm>
            <a:off x="1097280" y="557784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62356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Interface utilisateur et dashboards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0" y="201168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20574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Processus de développement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0" y="260604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65176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Tests et validation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0" y="320040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24612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Déploiement et production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0" y="379476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84048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Résultats et métriques clés</a:t>
            </a:r>
          </a:p>
        </p:txBody>
      </p:sp>
      <p:sp>
        <p:nvSpPr>
          <p:cNvPr id="28" name="Oval 27"/>
          <p:cNvSpPr/>
          <p:nvPr/>
        </p:nvSpPr>
        <p:spPr>
          <a:xfrm>
            <a:off x="6583680" y="438912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43484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Défis techniques et solutions</a:t>
            </a:r>
          </a:p>
        </p:txBody>
      </p:sp>
      <p:sp>
        <p:nvSpPr>
          <p:cNvPr id="30" name="Oval 29"/>
          <p:cNvSpPr/>
          <p:nvPr/>
        </p:nvSpPr>
        <p:spPr>
          <a:xfrm>
            <a:off x="6583680" y="498348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50292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Limites et perspectives</a:t>
            </a:r>
          </a:p>
        </p:txBody>
      </p:sp>
      <p:sp>
        <p:nvSpPr>
          <p:cNvPr id="32" name="Oval 31"/>
          <p:cNvSpPr/>
          <p:nvPr/>
        </p:nvSpPr>
        <p:spPr>
          <a:xfrm>
            <a:off x="6583680" y="5577840"/>
            <a:ext cx="365760" cy="36576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562356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Contexte : OCP S.A. et Complexe Jorf Lasfar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0A1628"/>
                </a:solidFill>
                <a:latin typeface="Calibri"/>
              </a:defRPr>
            </a:pPr>
            <a:r>
              <a:t>OCP S.A.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Leader mondial dans l'exploitation et la transformation des phosphates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Groupe industriel marocain, présence dans 15+ pays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Fournit 40% de l'engrais mondial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Chiffre d'affaires : 13,3 milliards MAD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Plus de 21 000 collaborateurs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solidFill>
            <a:srgbClr val="F5F8F5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0A1628"/>
                </a:solidFill>
                <a:latin typeface="Calibri"/>
              </a:defRPr>
            </a:pPr>
            <a:r>
              <a:t>Complexe Jorf Lasfar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7432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Situé près d'El Jadida, côte atlantique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1 130 hectares de superficie totale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Plus de 90 localisations à orienter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19 catégories de profils utilisateurs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Environnement industriel complexe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Problématique : L'Orientation sur Site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320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3200400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 i="0">
                <a:solidFill>
                  <a:srgbClr val="00A050"/>
                </a:solidFill>
                <a:latin typeface="Calibri"/>
              </a:defRPr>
            </a:pPr>
            <a:r>
              <a:t>90+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localisations</a:t>
            </a:r>
            <a:br/>
            <a:r>
              <a:t>à orienter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2103120"/>
            <a:ext cx="320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2103120"/>
            <a:ext cx="3200400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228600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 i="0">
                <a:solidFill>
                  <a:srgbClr val="1E3A5F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310896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profils</a:t>
            </a:r>
            <a:br/>
            <a:r>
              <a:t>d'utilisateurs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599" y="2103120"/>
            <a:ext cx="320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599" y="2103120"/>
            <a:ext cx="32004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9" y="228600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 i="0">
                <a:solidFill>
                  <a:srgbClr val="C0392B"/>
                </a:solidFill>
                <a:latin typeface="Calibri"/>
              </a:defRPr>
            </a:pPr>
            <a:r>
              <a:t>1 130 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9" y="310896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de superficie</a:t>
            </a:r>
            <a:br/>
            <a:r>
              <a:t>industrielle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89120"/>
            <a:ext cx="105156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4A4A4A"/>
                </a:solidFill>
                <a:latin typeface="Calibri"/>
              </a:defRPr>
            </a:pPr>
            <a:r>
              <a:t>Plans imprimés obsolètes, GPS grand public imprécis en milieu industriel, absence de solution adaptée aux 90+ localisations du campus.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Solution : OCP eGuide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515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4A4A4A"/>
                </a:solidFill>
                <a:latin typeface="Calibri"/>
              </a:defRPr>
            </a:pPr>
            <a:r>
              <a:t>Application web complète : carte interactive, recherche floue, routage A*, dashboards, mode kiosk, trilingue.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200400"/>
            <a:ext cx="3200400" cy="146304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▸  Carte Interactive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4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Image satellite du campus</a:t>
            </a:r>
            <a:br/>
            <a:r>
              <a:t>avec zoom, pan, marqueurs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3200400"/>
            <a:ext cx="3200400" cy="146304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39" y="33375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▸  Recherche Floue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374904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Recherche par nom, alias</a:t>
            </a:r>
            <a:br/>
            <a:r>
              <a:t>ou catégorie avec scoring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599" y="3200400"/>
            <a:ext cx="3200400" cy="146304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9" y="33375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▸  Routage A*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9" y="374904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Itinéraire piéton optimal</a:t>
            </a:r>
            <a:br/>
            <a:r>
              <a:t>avec temps de marche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937760"/>
            <a:ext cx="3200400" cy="128016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749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▸  19 Dashboards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8640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Interfaces personnalisées</a:t>
            </a:r>
            <a:br/>
            <a:r>
              <a:t>par profil utilisateur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4937760"/>
            <a:ext cx="3200400" cy="128016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39" y="50749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▸  Trilingue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39" y="548640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Français, anglais, arabe
Adaptation RTL de l'interface</a:t>
            </a:r>
            <a:br/>
            <a:r>
              <a:t>430+ clés i18n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599" y="4937760"/>
            <a:ext cx="3200400" cy="128016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9" y="50749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▸  Sécurisé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9" y="548640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JWT, Argon2, rate limiting</a:t>
            </a:r>
            <a:br/>
            <a:r>
              <a:t>CORS, Helmet.js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46520"/>
            <a:ext cx="12191695" cy="12801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Architecture du Système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103120"/>
            <a:ext cx="941832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2103120"/>
            <a:ext cx="73152" cy="914400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1945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A050"/>
                </a:solidFill>
                <a:latin typeface="Calibri"/>
              </a:defRPr>
            </a:pPr>
            <a:r>
              <a:t>PRÉSENTATION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56032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Next.js 16 + React 19 + TypeScript + Tailwind CSS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291840"/>
            <a:ext cx="941832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71600" y="3291840"/>
            <a:ext cx="73152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338328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E3A5F"/>
                </a:solidFill>
                <a:latin typeface="Calibri"/>
              </a:defRPr>
            </a:pPr>
            <a:r>
              <a:t>MÉTIER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74904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Express.js 4 + Socket.IO + JWT + Zod + Swagger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4480560"/>
            <a:ext cx="941832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71600" y="4480560"/>
            <a:ext cx="73152" cy="9144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45720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8E44AD"/>
                </a:solidFill>
                <a:latin typeface="Calibri"/>
              </a:defRPr>
            </a:pPr>
            <a:r>
              <a:t>DONNÉES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93776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PostgreSQL 16 + Prisma ORM + Argon2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017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4A4A4A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420624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4A4A4A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1">
                <a:solidFill>
                  <a:srgbClr val="4A4A4A"/>
                </a:solidFill>
                <a:latin typeface="Calibri"/>
              </a:defRPr>
            </a:pPr>
            <a:r>
              <a:t>Déploiement : Vercel (frontend)  •  Render (backend)  •  Supabase (PostgreSQL)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Stack Technologique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515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286000"/>
                <a:gridCol w="1371600"/>
                <a:gridCol w="5212080"/>
              </a:tblGrid>
              <a:tr h="337624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Couche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Technologie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Version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Rôle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Next.js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16.3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Framework React App Router, SSR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19.2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Bibliothèque UI, hooks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TypeScript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5.x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Typage statique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Tailwind CSS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Styling utility-first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Express.js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4.21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Framework HTTP, routing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Prisma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6.14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ORM PostgreSQL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PostgreSQL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16+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Base de données relationnelle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Socket.IO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Temps réel (WebSocket)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Argon2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0.41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Hachage mots de passe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JWT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Tokens d'authentification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Outil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Jest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29.7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Tests unitaires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3763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Outil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Swagger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Documentation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Carte Interactive du Campus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A1628"/>
                </a:solidFill>
                <a:latin typeface="Calibri"/>
              </a:defRPr>
            </a:pPr>
            <a:r>
              <a:t>Pourquoi Canvas HTML5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Image satellite PNG comme surface de référence unique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Positionnement en pourcentages de l'image (PNG-local)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Alignement parfait des marqueurs à tout zoom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Pas de dépendance à Leaflet/Mapbox (coût, licence)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Rendu haute performance pour 95 localisations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solidFill>
            <a:srgbClr val="F5F8F5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A1628"/>
                </a:solidFill>
                <a:latin typeface="Calibri"/>
              </a:defRPr>
            </a:pPr>
            <a:r>
              <a:t>Interactions Utilisateur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7432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Zoom : molette, boutons, pincement (0.3x – 5.0x)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Pan : glisser-déposer, tactile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Recherche floue avec scoring multi-critères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Sélection : clic sur marqueur → détails + actions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Routage : sélection départ/arrivée → A* animé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Labels : évitement de collision, taille adaptive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8 / 21</a:t>
            </a:r>
          </a:p>
        </p:txBody>
      </p:sp>
      <p:pic>
        <p:nvPicPr>
          <p:cNvPr id="14" name="Picture 13" descr="ocp-campus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5029200" cy="3931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0800" y="59893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4A4A4A"/>
                </a:solidFill>
                <a:latin typeface="Calibri"/>
              </a:defRPr>
            </a:pPr>
            <a:r>
              <a:t>Vue principale de la carte interactive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Calibration GPS → Pixels</a:t>
            </a:r>
          </a:p>
        </p:txBody>
      </p:sp>
      <p:sp>
        <p:nvSpPr>
          <p:cNvPr id="6" name="Oval 5"/>
          <p:cNvSpPr/>
          <p:nvPr/>
        </p:nvSpPr>
        <p:spPr>
          <a:xfrm>
            <a:off x="1554480" y="2194560"/>
            <a:ext cx="548640" cy="54864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A1628"/>
                </a:solidFill>
                <a:latin typeface="Calibri"/>
              </a:defRPr>
            </a:pPr>
            <a:r>
              <a:t>Capture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2560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8 bâtiments identifiés</a:t>
            </a:r>
            <a:br/>
            <a:r>
              <a:t>sur satellite + Google Earth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28600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00A05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4434840" y="2194560"/>
            <a:ext cx="548640" cy="54864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92608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A1628"/>
                </a:solidFill>
                <a:latin typeface="Calibri"/>
              </a:defRPr>
            </a:pPr>
            <a:r>
              <a:t>Calcul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383280"/>
            <a:ext cx="2560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Transformation affine</a:t>
            </a:r>
            <a:br/>
            <a:r>
              <a:t>6 coefficients (a,b,c,d,e,f)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28600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00A05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0" y="2194560"/>
            <a:ext cx="548640" cy="54864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2608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A1628"/>
                </a:solidFill>
                <a:latin typeface="Calibri"/>
              </a:defRPr>
            </a:pPr>
            <a:r>
              <a:t>Application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383280"/>
            <a:ext cx="2560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Conversion des 95</a:t>
            </a:r>
            <a:br/>
            <a:r>
              <a:t>localisations GPS → pixels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28600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00A05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10195560" y="2194560"/>
            <a:ext cx="548640" cy="548640"/>
          </a:xfrm>
          <a:prstGeom prst="ellipse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92608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A1628"/>
                </a:solidFill>
                <a:latin typeface="Calibri"/>
              </a:defRPr>
            </a:pPr>
            <a:r>
              <a:t>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3383280"/>
            <a:ext cx="2560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RMS = 14,4 px</a:t>
            </a:r>
            <a:br/>
            <a:r>
              <a:t>95/95 in-bounds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4754880"/>
            <a:ext cx="6675120" cy="1097280"/>
          </a:xfrm>
          <a:prstGeom prst="rect">
            <a:avLst/>
          </a:prstGeom>
          <a:solidFill>
            <a:srgbClr val="F0F8F0"/>
          </a:solidFill>
          <a:ln w="25400">
            <a:solidFill>
              <a:srgbClr val="00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0" y="4892040"/>
            <a:ext cx="61264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07030"/>
                </a:solidFill>
                <a:latin typeface="Calibri"/>
              </a:defRPr>
            </a:pPr>
            <a:r>
              <a:rPr sz="1400" b="1">
                <a:solidFill>
                  <a:srgbClr val="00A050"/>
                </a:solidFill>
              </a:rPr>
              <a:t>Calibration validée : 14,4 px (≈ 100 m) — 95/95 in-bounds — 100% routable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9 / 21</a:t>
            </a:r>
          </a:p>
        </p:txBody>
      </p:sp>
      <p:pic>
        <p:nvPicPr>
          <p:cNvPr id="26" name="Picture 25" descr="calibration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5029200" cy="34747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400800" y="55778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4A4A4A"/>
                </a:solidFill>
                <a:latin typeface="Calibri"/>
              </a:defRPr>
            </a:pPr>
            <a:r>
              <a:rPr sz="1400" b="1">
                <a:solidFill>
                  <a:srgbClr val="00A050"/>
                </a:solidFill>
              </a:rPr>
              <a:t>Calibration validée : 14,4 px (≈ 100 m) — 95/95 in-bounds — 100% routable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Pathfinding A* et Routage Piéton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A1628"/>
                </a:solidFill>
                <a:latin typeface="Calibri"/>
              </a:defRPr>
            </a:pPr>
            <a:r>
              <a:t>Algorithme A*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f(n) = g(n) + h(n)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g(n) : coût réel du début au nœud 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Heuristique euclidienne
vers la destination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File de priorité (tas binaire) pour l'optimisation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Représentation d'adjacence paresseuse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solidFill>
            <a:srgbClr val="F5F8F5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A1628"/>
                </a:solidFill>
                <a:latin typeface="Calibri"/>
              </a:defRPr>
            </a:pPr>
            <a:r>
              <a:t>Données Cartographiques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74320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A050"/>
                </a:solidFill>
                <a:latin typeface="Calibri"/>
              </a:defRPr>
            </a:pPr>
            <a:r>
              <a:t>3 423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770632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A1A2E"/>
                </a:solidFill>
                <a:latin typeface="Calibri"/>
              </a:defRPr>
            </a:pPr>
            <a:r>
              <a:t>nœuds de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38328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A050"/>
                </a:solidFill>
                <a:latin typeface="Calibri"/>
              </a:defRPr>
            </a:pPr>
            <a:r>
              <a:t>13 346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410712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A1A2E"/>
                </a:solidFill>
                <a:latin typeface="Calibri"/>
              </a:defRPr>
            </a:pPr>
            <a:r>
              <a:t>arêtes (chemins piétons)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0233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A050"/>
                </a:solidFill>
                <a:latin typeface="Calibri"/>
              </a:defRPr>
            </a:pPr>
            <a:r>
              <a:t>95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050792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A1A2E"/>
                </a:solidFill>
                <a:latin typeface="Calibri"/>
              </a:defRPr>
            </a:pPr>
            <a:r>
              <a:t>localisations connectées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663439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A050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690871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A1A2E"/>
                </a:solidFill>
                <a:latin typeface="Calibri"/>
              </a:defRPr>
            </a:pPr>
            <a:r>
              <a:t>paires routables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530352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A050"/>
                </a:solidFill>
                <a:latin typeface="Calibri"/>
              </a:defRPr>
            </a:pPr>
            <a:r>
              <a:t>&lt; 3s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5330952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A1A2E"/>
                </a:solidFill>
                <a:latin typeface="Calibri"/>
              </a:defRPr>
            </a:pPr>
            <a:r>
              <a:t>temps de calcul max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10 / 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669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i="1">
                <a:solidFill>
                  <a:srgbClr val="4A4A4A"/>
                </a:solidFill>
                <a:latin typeface="Calibri"/>
              </a:defRPr>
            </a:pPr>
            <a:r>
              <a:t>Optimisation : file de priorité (tas binaire) + adjacence paresseuse → temps de calcul &lt; 3 s sur 3,4 k nœuds.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Backend, API et Base de Données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72000"/>
                <a:gridCol w="3657600"/>
              </a:tblGrid>
              <a:tr h="316523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Groupe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Routes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Fonctionnalités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/api/auth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register, login, refresh, logout, me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Authentification JWT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/api/users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CRUD, employees, 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Gestion utilisateurs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/api/internships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CRUD, progress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Gestion stages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/api/tasks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CRUD, assign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Gestion tâches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/api/requests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CRUD, approve/reject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Demandes et validations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/api/notifications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list, read, read-all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Notifications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/api/locations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CRUD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Localisations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/api/places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list, occupancy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Espaces campus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/api/qr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generate, verify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Codes QR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/api/presence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update, 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Présence temps réel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/api/guest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request, status, QR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Portail invité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1652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/api/guest-public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search, info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API publique QR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1">
                <a:solidFill>
                  <a:srgbClr val="4A4A4A"/>
                </a:solidFill>
                <a:latin typeface="Calibri"/>
              </a:defRPr>
            </a:pPr>
            <a:r>
              <a:t>12 groupes de routes  •  Documentation Swagger auto-générée  •  16 modèles Prisma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Sécurité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5303520" cy="91440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▸  Authentification JWT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Double token : access (15 min) + refresh (7 jours)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03120"/>
            <a:ext cx="5303520" cy="91440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19456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▸  Hachage Argon2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56032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Algorithme de hachage sécurisé pour les mots de passe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200400"/>
            <a:ext cx="5303520" cy="91440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9184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▸  Autorisation par rôle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Middleware authorize (ADMIN, EMPLOYEE, INTERN)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3200400"/>
            <a:ext cx="5303520" cy="91440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29184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▸  Rate Limiting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65760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100 requêtes / 15 min par IP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297680"/>
            <a:ext cx="5303520" cy="91440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38912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▸  Helmet.js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5488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En-têtes de sécurité HTTP renforcés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4297680"/>
            <a:ext cx="5303520" cy="91440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38912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▸  CORS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75488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Liste blanche d'origines autorisées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394959"/>
            <a:ext cx="5303520" cy="91440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486399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▸  Validation Zod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852159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Validation stricte de toutes les entrées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5394959"/>
            <a:ext cx="5303520" cy="914400"/>
          </a:xfrm>
          <a:prstGeom prst="rect">
            <a:avLst/>
          </a:prstGeom>
          <a:solidFill>
            <a:srgbClr val="F8FAF8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5486399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A1628"/>
                </a:solidFill>
                <a:latin typeface="Calibri"/>
              </a:defRPr>
            </a:pPr>
            <a:r>
              <a:t>▸  Sanitisation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5852159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Suppression du passwordHash dans les réponses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Interface Utilisateur et Dashboards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A1628"/>
                </a:solidFill>
                <a:latin typeface="Calibri"/>
              </a:defRPr>
            </a:pPr>
            <a:r>
              <a:t>Identité Visuelle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Couleurs : Vert OCP (#00A050) + Marine (#0A1628)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Mode kiosk : défilement automatique des profils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Page d'accueil : sélection de profil avec icônes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Responsive design : mobile, tablette, desktop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i18n : 3 langues (EN/FR/AR), 430+ clés, RTL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solidFill>
            <a:srgbClr val="F5F8F5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429768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A1628"/>
                </a:solidFill>
                <a:latin typeface="Calibri"/>
              </a:defRPr>
            </a:pPr>
            <a:r>
              <a:t>19 Dashboards Personnalisés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7548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Employés : Management, Réception, RH, IT, Sécurité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Stagiaires : Mécanique, Chimie, Électrique, Civil...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Visiteurs : Client, Livreur, Partenaire, Fournisseur...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Chaque profil voit les données et actions pertinentes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▸  Widget temps réel via Socket.IO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13 / 21</a:t>
            </a:r>
          </a:p>
        </p:txBody>
      </p:sp>
      <p:pic>
        <p:nvPicPr>
          <p:cNvPr id="14" name="Picture 13" descr="app-home-kio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2651760" cy="21031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0800" y="420624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4A4A4A"/>
                </a:solidFill>
                <a:latin typeface="Calibri"/>
              </a:defRPr>
            </a:pPr>
            <a:r>
              <a:t>Page d'accueil en mode kiosk</a:t>
            </a:r>
          </a:p>
        </p:txBody>
      </p:sp>
      <p:pic>
        <p:nvPicPr>
          <p:cNvPr id="16" name="Picture 15" descr="dashboard-recep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2011680"/>
            <a:ext cx="2651760" cy="21031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326880" y="420624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4A4A4A"/>
                </a:solidFill>
                <a:latin typeface="Calibri"/>
              </a:defRPr>
            </a:pPr>
            <a:r>
              <a:t>Tableau de bord personnalisé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Processus de Développement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164592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1645920" cy="457200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21408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Analyse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08960"/>
            <a:ext cx="1371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Audit du site</a:t>
            </a:r>
            <a:br/>
            <a:r>
              <a:t>Cahier des charges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2103120"/>
            <a:ext cx="164592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51760" y="2103120"/>
            <a:ext cx="1645920" cy="457200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2121408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6517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Conception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3108960"/>
            <a:ext cx="1371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Architecture</a:t>
            </a:r>
            <a:br/>
            <a:r>
              <a:t>Schéma Prisma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103120"/>
            <a:ext cx="164592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2103120"/>
            <a:ext cx="1645920" cy="457200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2121408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6517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108960"/>
            <a:ext cx="1371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API REST</a:t>
            </a:r>
            <a:br/>
            <a:r>
              <a:t>Auth + CRUD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2103120"/>
            <a:ext cx="164592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92240" y="2103120"/>
            <a:ext cx="1645920" cy="457200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121408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6517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108960"/>
            <a:ext cx="1371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Landing + Auth</a:t>
            </a:r>
            <a:br/>
            <a:r>
              <a:t>Dashboard layout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2103120"/>
            <a:ext cx="164592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12480" y="2103120"/>
            <a:ext cx="1645920" cy="457200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2121408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Phase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26517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Carte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3108960"/>
            <a:ext cx="1371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OCPMap Canvas</a:t>
            </a:r>
            <a:br/>
            <a:r>
              <a:t>Search + A*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332720" y="2103120"/>
            <a:ext cx="164592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332720" y="2103120"/>
            <a:ext cx="1645920" cy="457200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32720" y="2121408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Phase 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69880" y="26517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Tests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69880" y="3108960"/>
            <a:ext cx="1371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Jest API tests</a:t>
            </a:r>
            <a:br/>
            <a:r>
              <a:t>0 erreurs 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02920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A1628"/>
                </a:solidFill>
                <a:latin typeface="Calibri"/>
              </a:defRPr>
            </a:pPr>
            <a:r>
              <a:t>Scripts d'automatisation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▸  dev-all.sh — Démarrage PostgreSQL + Backend + Frontend en une commande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▸  regenerate-map.mjs — Pipeline de régénération carte après calibration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▸  convert-coordinates.js — Convertisseur GPS DMS → pixels (affine)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Tests et Validation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3200400"/>
                <a:gridCol w="1828800"/>
              </a:tblGrid>
              <a:tr h="37407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Attendu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Observé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Statut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Inscription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201 + tokens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201 + accessToken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Pass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Connexion valide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200 + 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200 + user + 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Connexion invalide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401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401 Invalid credentials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Pass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Accès sans 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401 Missing auth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Refresh token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200 + nouveau token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200 + accessToken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Pass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Autorisation rôle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403 Forbidden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Build frontend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Succès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 erreurs TypeScript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Pass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Calibration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RMS &lt; 25 px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RMS = 14,4 px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Connectivité A*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8 930/8 930 (100%)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Pass</a:t>
                      </a:r>
                    </a:p>
                  </a:txBody>
                  <a:tcPr>
                    <a:solidFill>
                      <a:srgbClr val="F0F5F0"/>
                    </a:solidFill>
                  </a:tcPr>
                </a:tc>
              </a:tr>
              <a:tr h="3740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Recherche floue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Résultats triés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Top 10 résultats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✅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A050"/>
                </a:solidFill>
                <a:latin typeface="Calibri"/>
              </a:defRPr>
            </a:pPr>
            <a:r>
              <a:t>25 tests Jest  •  0 erreurs TypeScript  •  Tous les tests passent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Déploiement et Production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32004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3200400" cy="548640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Vercel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A050"/>
                </a:solidFill>
                <a:latin typeface="Calibri"/>
              </a:defRPr>
            </a:pPr>
            <a:r>
              <a:t>Frontend Next.js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00400"/>
            <a:ext cx="265176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Déploiement automatique</a:t>
            </a:r>
            <a:br/>
            <a:r>
              <a:t>Depuis GitHub</a:t>
            </a:r>
            <a:br/>
            <a:r>
              <a:t>SSL + CDN global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2103120"/>
            <a:ext cx="32004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2103120"/>
            <a:ext cx="320040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214884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Render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27432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E3A5F"/>
                </a:solidFill>
                <a:latin typeface="Calibri"/>
              </a:defRPr>
            </a:pPr>
            <a:r>
              <a:t>Backend Express.js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3200400"/>
            <a:ext cx="265176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Build automatique</a:t>
            </a:r>
            <a:br/>
            <a:r>
              <a:t>Variables d'env</a:t>
            </a:r>
            <a:br/>
            <a:r>
              <a:t>Health checks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599" y="2103120"/>
            <a:ext cx="32004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599" y="2103120"/>
            <a:ext cx="3200400" cy="5486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9" y="214884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Supabase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9" y="27432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8E44AD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200400"/>
            <a:ext cx="265176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Base de données</a:t>
            </a:r>
            <a:br/>
            <a:r>
              <a:t>Backups automatiques</a:t>
            </a:r>
            <a:br/>
            <a:r>
              <a:t>Panneau d'admin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57784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1">
                <a:solidFill>
                  <a:srgbClr val="4A4A4A"/>
                </a:solidFill>
                <a:latin typeface="Calibri"/>
              </a:defRPr>
            </a:pPr>
            <a:r>
              <a:t>Variables d'environnement : DATABASE_URL  •  JWT_SECRET  •  JWT_REFRESH_SECRET  •  CORS_ORIGIN  •  NODE_ENV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Résultats Clés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22860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2286000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2286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00A050"/>
                </a:solidFill>
                <a:latin typeface="Calibri"/>
              </a:defRPr>
            </a:pPr>
            <a:r>
              <a:t>95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0896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Localisations</a:t>
            </a:r>
            <a:br/>
            <a:r>
              <a:t>calibrées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2103120"/>
            <a:ext cx="22860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2103120"/>
            <a:ext cx="2286000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2331720"/>
            <a:ext cx="2286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1E3A5F"/>
                </a:solidFill>
                <a:latin typeface="Calibri"/>
              </a:defRPr>
            </a:pPr>
            <a:r>
              <a:t>3 423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19" y="310896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Nœuds de</a:t>
            </a:r>
            <a:br/>
            <a:r>
              <a:t>navigation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599" y="2103120"/>
            <a:ext cx="22860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599" y="2103120"/>
            <a:ext cx="2286000" cy="548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9" y="2331720"/>
            <a:ext cx="2286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8E44AD"/>
                </a:solidFill>
                <a:latin typeface="Calibri"/>
              </a:defRPr>
            </a:pPr>
            <a:r>
              <a:t>13 346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310896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Arêtes de</a:t>
            </a:r>
            <a:br/>
            <a:r>
              <a:t>graphe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206240"/>
            <a:ext cx="22860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206240"/>
            <a:ext cx="22860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434840"/>
            <a:ext cx="2286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C0392B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1208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Connectivité</a:t>
            </a:r>
            <a:br/>
            <a:r>
              <a:t>A*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59" y="4206240"/>
            <a:ext cx="22860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59" y="4206240"/>
            <a:ext cx="2286000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59" y="4434840"/>
            <a:ext cx="2286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00A050"/>
                </a:solidFill>
                <a:latin typeface="Calibri"/>
              </a:defRPr>
            </a:pPr>
            <a:r>
              <a:t>14,4 px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19" y="521208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RMS de</a:t>
            </a:r>
            <a:br/>
            <a:r>
              <a:t>calibration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599" y="4206240"/>
            <a:ext cx="22860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599" y="4206240"/>
            <a:ext cx="2286000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9" y="4434840"/>
            <a:ext cx="2286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1E3A5F"/>
                </a:solidFill>
                <a:latin typeface="Calibri"/>
              </a:defRPr>
            </a:pPr>
            <a:r>
              <a:t>&lt; 3 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59" y="521208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Temps de</a:t>
            </a:r>
            <a:br/>
            <a:r>
              <a:t>routage max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17 / 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114800"/>
            <a:ext cx="10515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A1628"/>
                </a:solidFill>
                <a:latin typeface="Calibri"/>
              </a:defRPr>
            </a:pPr>
            <a:r>
              <a:t>Résultats fonctionnels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▸  Frontend Next.js avec 19 dashboards responsive — Backend Express.js avec 12 groupes d'endpoints + Swagger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▸  Carte interactive avec 95 localisations calibrées — Recherche floue avec scoring multi-critères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▸  Interface trilingue (EN/FR/AR) avec adaptation RTL — 430+ clés i18n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▸  Auth JWT sécurisée (Argon2, refresh tokens, rate limiting) — Socket.IO temps réel + mode kiosk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Défis Techniques et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▸ Calibration GPS précise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3172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0392B"/>
                </a:solidFill>
                <a:latin typeface="Calibri"/>
              </a:defRPr>
            </a:pPr>
            <a:r>
              <a:t>Premiers tests → positions erronées.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060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1E3A5F"/>
                </a:solidFill>
                <a:latin typeface="Calibri"/>
              </a:defRPr>
            </a:pPr>
            <a:r>
              <a:t>8 points de contrôle, transformation affine (6 coeff.).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8036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007030"/>
                </a:solidFill>
                <a:latin typeface="Calibri"/>
              </a:defRPr>
            </a:pPr>
            <a:r>
              <a:t>Résultat : RMS = 14,4 px, 95/95 in-bounds, 100% routable.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▸ Alignement des marqueurs au zoom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947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0392B"/>
                </a:solidFill>
                <a:latin typeface="Calibri"/>
              </a:defRPr>
            </a:pPr>
            <a:r>
              <a:t>Marqueurs décalés au zoom.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06908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1E3A5F"/>
                </a:solidFill>
                <a:latin typeface="Calibri"/>
              </a:defRPr>
            </a:pPr>
            <a:r>
              <a:t>Principe PNG-local (positions en %).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34340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007030"/>
                </a:solidFill>
                <a:latin typeface="Calibri"/>
              </a:defRPr>
            </a:pPr>
            <a:r>
              <a:t>Résultat : Alignement parfait sous toute condition de zoom.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93776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A1628"/>
                </a:solidFill>
                <a:latin typeface="Calibri"/>
              </a:defRPr>
            </a:pPr>
            <a:r>
              <a:t>▸ Performance avec 3 400+ nœuds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25780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0392B"/>
                </a:solidFill>
                <a:latin typeface="Calibri"/>
              </a:defRPr>
            </a:pPr>
            <a:r>
              <a:t>3 400+ nœuds côté client.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53212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1E3A5F"/>
                </a:solidFill>
                <a:latin typeface="Calibri"/>
              </a:defRPr>
            </a:pPr>
            <a:r>
              <a:t>Binary heap, construction paresseuse.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8064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007030"/>
                </a:solidFill>
                <a:latin typeface="Calibri"/>
              </a:defRPr>
            </a:pPr>
            <a:r>
              <a:t>Résultat : Rendu fluide, routage &lt; 3 secondes.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Limites et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C0392B"/>
                </a:solidFill>
                <a:latin typeface="Calibri"/>
              </a:defRPr>
            </a:pPr>
            <a:r>
              <a:t>Limites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Précision de calibration limitée (RMS 14,4 px ≈ 100 m)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Absence de navigation intérieure (étages, couloirs)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Carte satellite statique (régénération manuelle)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Absence de mode hors-ligne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Tests E2E et tests unitaires frontend à implémenter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OAuth Google préparé mais non activé en 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A050"/>
                </a:solidFill>
                <a:latin typeface="Calibri"/>
              </a:defRPr>
            </a:pPr>
            <a:r>
              <a:t>Perspectives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15+ points de calibration (RMS &lt; 5 px)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Image haute résolution (4K)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Navigation intérieure (bâtiments, étages)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Application mobile (React Native)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Tests Cypress/Playwright (E2E)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Accessibilité WCAG 2.1 AA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A050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A1628"/>
                </a:solidFill>
                <a:latin typeface="Calibri"/>
              </a:defRPr>
            </a:pPr>
            <a:r>
              <a:t>Conclusion Générale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51560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1600"/>
              </a:spcBef>
              <a:spcAft>
                <a:spcPts val="400"/>
              </a:spcAft>
              <a:defRPr sz="1800" b="1" i="0">
                <a:solidFill>
                  <a:srgbClr val="0A1628"/>
                </a:solidFill>
                <a:latin typeface="Calibri"/>
              </a:defRPr>
            </a:pPr>
            <a:r>
              <a:t>Un projet complet et fonctionnel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Application web fonctionnelle pour l'orientation sur le campus OCP Jorf Lasfar.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800" b="0" i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spcAft>
                <a:spcPts val="400"/>
              </a:spcAft>
              <a:defRPr sz="1800" b="1" i="0">
                <a:solidFill>
                  <a:srgbClr val="0A1628"/>
                </a:solidFill>
                <a:latin typeface="Calibri"/>
              </a:defRPr>
            </a:pPr>
            <a:r>
              <a:t>Compétences techniques acquises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Stack moderne : Next.js, Express, Prisma, PostgreSQL, A*, calibration géospatiale.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800" b="0" i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spcAft>
                <a:spcPts val="400"/>
              </a:spcAft>
              <a:defRPr sz="1800" b="1" i="0">
                <a:solidFill>
                  <a:srgbClr val="0A1628"/>
                </a:solidFill>
                <a:latin typeface="Calibri"/>
              </a:defRPr>
            </a:pPr>
            <a:r>
              <a:t>Impact professionnel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Passion confirmée pour le développement logiciel en contexte industriel.</a:t>
            </a:r>
          </a:p>
          <a:p>
            <a:pPr>
              <a:spcBef>
                <a:spcPts val="1200"/>
              </a:spcBef>
            </a:pPr>
          </a:p>
          <a:p>
            <a:pPr>
              <a:spcBef>
                <a:spcPts val="800"/>
              </a:spcBef>
              <a:defRPr sz="1600" b="1">
                <a:solidFill>
                  <a:srgbClr val="00A050"/>
                </a:solidFill>
                <a:latin typeface="Calibri"/>
              </a:defRPr>
            </a:pPr>
            <a:r>
              <a:t>Scénario de démonstration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▸  Recherche floue : localisation par requête approximative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▸  Routage A* : calcul et visualisation d'itinéraire piéton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▸  Profils utilisateurs : tableaux de bord par rôle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▸  Multilingue : français, anglais, arabe avec adaptation RTL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OCP eGuide — Rapport de Stage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9169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Merci de votre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91840"/>
            <a:ext cx="121916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0" i="0">
                <a:solidFill>
                  <a:srgbClr val="80C0A0"/>
                </a:solidFill>
                <a:latin typeface="Calibri"/>
              </a:defRPr>
            </a:pPr>
            <a:r>
              <a:t>Questions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38912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Imrane Belkoufa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75488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A0B0C0"/>
                </a:solidFill>
                <a:latin typeface="Calibri"/>
              </a:defRPr>
            </a:pPr>
            <a:r>
              <a:t>EST Sidi Bennour — Génie Informatique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12064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A0B0C0"/>
                </a:solidFill>
                <a:latin typeface="Calibri"/>
              </a:defRPr>
            </a:pPr>
            <a:r>
              <a:t>OCP S.A. — Complexe Jorf Lasfar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48640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8090A0"/>
                </a:solidFill>
                <a:latin typeface="Calibri"/>
              </a:defRPr>
            </a:pPr>
            <a:r>
              <a:t>Année universitaire 2025 –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94415" y="64922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